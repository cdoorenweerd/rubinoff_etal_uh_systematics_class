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1" r:id="rId6"/>
    <p:sldId id="368" r:id="rId7"/>
    <p:sldId id="264" r:id="rId8"/>
    <p:sldId id="266" r:id="rId9"/>
    <p:sldId id="267" r:id="rId10"/>
    <p:sldId id="268" r:id="rId11"/>
    <p:sldId id="269" r:id="rId12"/>
    <p:sldId id="271" r:id="rId13"/>
    <p:sldId id="274" r:id="rId14"/>
    <p:sldId id="275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2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823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restyled and updated September 2026. Content from the original lecture is preserved; slides marked "2026 update" add platforms and figures current as of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FD9D3-6FEA-8BA8-4683-9A1C4E034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1B0F8-B5CB-0CCE-F946-71C3733DE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E62F9-766E-F417-54D9-66962AB46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243CE-45EB-346F-1DFB-148F5D6FE5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72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redrawn in 2026 update; content follows the original four-step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2026 from Illumina NovaSeq X specifications (25B flow cell: ~52–70 billion reads PF per flow cell, i.e. ~26–35 billion pairs; ~8–10.5 Tb at 2x150; ~48 h). Original slide listed NovaSeq 6000 figures (10–25B read pairs, ~$30,000 per run, 2–3 days).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(2026). Sources: Ultima UG 200 launch, 23 Feb 2026 (GEN); Roche AXELIOS 1 launch press release, 29 June 2026 (research use only); Element AVITI (Arslan et al., Nat Biotechnol 2024); Complete Genomics / MGI DNBSEQ.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2026. Accuracy from nanoporetech.com/platform/accuracy (Q26, Dorado v5 SUP); London Calling 2026 technology update (PromethION Plus flow cell, peptide sequencing demonstration).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WMZmG00uhwU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Sequencing Technology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Sanger to single molecules — updated for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generations of sequencing technology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520440" cy="4389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06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GENERATION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Sanger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74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 →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9776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termination, gel then capillary electrophoresis. One read per reaction, ~1 kb, very accurate.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97680" y="1645920"/>
            <a:ext cx="3520440" cy="4389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606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GENERATION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Short-read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474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9776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 (2005–2016) and Illumina (2006 →), now joined by Element, Ultima, MGI and Roche SBX. Billions of reads in parallel.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0" y="1645920"/>
            <a:ext cx="3520440" cy="4389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2606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GENERATION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molecule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3474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→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39776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PacBio SMRT (HiFi) and Oxford Nanopore. Reads of 10 kb to &gt;1 Mb from native DNA, no amplification.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Terminology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0" cy="466344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315200" y="1143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9110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Sequencing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6791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Sequencing Technologies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447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Prepping DNA for Sequencing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2153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Study Design Considerations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983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 for Specific Sequencing Assays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0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sequencing read? What is a sequencing library?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4068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209397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688336"/>
            <a:ext cx="4983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sequence from one fragment in the sequencing library (one cluster, bead, well, or molecule).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44068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0" y="209397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reads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688336"/>
            <a:ext cx="4983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reads derived from one fragment in the library — one read from each end.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4068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442569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20056"/>
            <a:ext cx="4983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 of DNA fragments that have been prepared to be sequenced.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44068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00800" y="442569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020056"/>
            <a:ext cx="4983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reads spanning a particular base in the genome (e.g., “30×”).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reads: fragment and paired-end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40680" cy="448056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8013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(single-end) reads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50008"/>
            <a:ext cx="49834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from fragment libraries. A single read in one direction from each fragment.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4206240"/>
            <a:ext cx="4526280" cy="146304"/>
          </a:xfrm>
          <a:prstGeom prst="rect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44805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fragment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3931920"/>
            <a:ext cx="1737360" cy="914"/>
          </a:xfrm>
          <a:prstGeom prst="line">
            <a:avLst/>
          </a:prstGeom>
          <a:noFill/>
          <a:ln w="38100">
            <a:solidFill>
              <a:srgbClr val="D149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5440680" cy="448056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0" y="18013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Paired-end reads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350008"/>
            <a:ext cx="49834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from fragment libraries. Two reads from opposite ends of the same fragment — the reads point towards each other.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29400" y="4206240"/>
            <a:ext cx="4526280" cy="146304"/>
          </a:xfrm>
          <a:prstGeom prst="rect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629400" y="44805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fragment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3931920"/>
            <a:ext cx="1737360" cy="914"/>
          </a:xfrm>
          <a:prstGeom prst="line">
            <a:avLst/>
          </a:prstGeom>
          <a:noFill/>
          <a:ln w="38100">
            <a:solidFill>
              <a:srgbClr val="D149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62940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H="1">
            <a:off x="9418320" y="3931920"/>
            <a:ext cx="1737360" cy="914"/>
          </a:xfrm>
          <a:prstGeom prst="line">
            <a:avLst/>
          </a:prstGeom>
          <a:noFill/>
          <a:ln w="38100">
            <a:solidFill>
              <a:srgbClr val="2F6FB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41832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25960-C1E4-72D8-7C54-0EEC5A404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85E35D2A-2951-CB6D-1513-40DB26467A53}"/>
              </a:ext>
            </a:extLst>
          </p:cNvPr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</a:rPr>
              <a:t>Sequencing Library</a:t>
            </a:r>
            <a:endParaRPr lang="en-US" sz="3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ABEAD2B-1E84-D569-9C36-E80C28ECA994}"/>
              </a:ext>
            </a:extLst>
          </p:cNvPr>
          <p:cNvSpPr/>
          <p:nvPr/>
        </p:nvSpPr>
        <p:spPr>
          <a:xfrm>
            <a:off x="548640" y="1610710"/>
            <a:ext cx="5440680" cy="448056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DNA that has been prepared for sequencing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Difference preparations for difference sequencing tech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Sanger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/>
              <a:t>PCR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2</a:t>
            </a:r>
            <a:r>
              <a:rPr lang="en-US" sz="2800" baseline="30000" dirty="0"/>
              <a:t>nd</a:t>
            </a:r>
            <a:r>
              <a:rPr lang="en-US" sz="2800" dirty="0"/>
              <a:t> and 3</a:t>
            </a:r>
            <a:r>
              <a:rPr lang="en-US" sz="2800" baseline="30000" dirty="0"/>
              <a:t>rd </a:t>
            </a:r>
            <a:r>
              <a:rPr lang="en-US" sz="2800" dirty="0"/>
              <a:t>Generation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/>
              <a:t>Need to ligate adapters/barcodes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36C95BB-F412-92A3-FC78-F0AF6B314C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9" name="Picture 28" descr="Library Preparation – The First Step in a NGS Setup – Lablogatory">
            <a:extLst>
              <a:ext uri="{FF2B5EF4-FFF2-40B4-BE49-F238E27FC236}">
                <a16:creationId xmlns:a16="http://schemas.microsoft.com/office/drawing/2014/main" id="{ABBA2861-C226-00E5-3502-3BDE7D86E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104" y="95754"/>
            <a:ext cx="4757928" cy="651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3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Sequencing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0" cy="466344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315200" y="1143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9110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Sequencing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6791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Sequencing Technologies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447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Prepping DNA for Sequencing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2153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Study Design Considerations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983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 for Specific Sequencing Assays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0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Sanger sequencing (1977)</a:t>
            </a:r>
            <a:endParaRPr lang="en-US" sz="3000" dirty="0"/>
          </a:p>
        </p:txBody>
      </p:sp>
      <p:pic>
        <p:nvPicPr>
          <p:cNvPr id="8" name="Image 0" descr="Autoradiograph of a Sanger sequencing g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4480560" cy="4480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0" y="1554480"/>
            <a:ext cx="6153912" cy="1341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715000" y="1719072"/>
            <a:ext cx="569671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1977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2407920"/>
            <a:ext cx="569671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Sanger, Nicklen &amp; Coulson, PNAS: “DNA sequencing with chain-terminating inhibitors”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0" y="3124200"/>
            <a:ext cx="6153912" cy="1341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715000" y="3288792"/>
            <a:ext cx="569671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5,386 nt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3977640"/>
            <a:ext cx="569671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φX174 — the first DNA genome sequenced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0" y="4693920"/>
            <a:ext cx="6153912" cy="1341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715000" y="4858512"/>
            <a:ext cx="569671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5547360"/>
            <a:ext cx="569671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 in Chemistry to Sanger and Gilbert (with Berg)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credit: unlockinglifescode.org/timeline/11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59299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Sanger sequencing originally worked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noFill/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four separate PCR reactions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20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Single-stranded template DNA is divided four ways.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noFill/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labeled primer and nucleotides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63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reaction gets all four dNTPs plus a little of one chain-terminating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ddNTP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3′-OH).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noFill/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strands to extend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06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sometimes stops at a ddNTP, giving a nested set of fragments.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noFill/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by size on Gel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349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to longest fragment spells the sequence 5′ → 3′.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92240" y="1554480"/>
            <a:ext cx="5148072" cy="45262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12280" y="178308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 PRODUCTS, SORTED BY LENGTH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2148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primer–</a:t>
            </a:r>
            <a:r>
              <a:rPr lang="en-US" sz="2000" b="1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A*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104120" y="2286000"/>
            <a:ext cx="457200" cy="128016"/>
          </a:xfrm>
          <a:prstGeom prst="rect">
            <a:avLst/>
          </a:prstGeom>
          <a:solidFill>
            <a:srgbClr val="2E9E5B"/>
          </a:solidFill>
          <a:ln w="12700">
            <a:solidFill>
              <a:srgbClr val="7F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81228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primer–</a:t>
            </a:r>
            <a:r>
              <a:rPr lang="en-US" sz="2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2000" b="1" dirty="0">
                <a:solidFill>
                  <a:srgbClr val="C23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T*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104120" y="2743200"/>
            <a:ext cx="640080" cy="128016"/>
          </a:xfrm>
          <a:prstGeom prst="rect">
            <a:avLst/>
          </a:prstGeom>
          <a:solidFill>
            <a:srgbClr val="C2334D"/>
          </a:solidFill>
          <a:ln w="12700">
            <a:solidFill>
              <a:srgbClr val="F28C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1228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primer–</a:t>
            </a:r>
            <a:r>
              <a:rPr lang="en-US" sz="2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20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G*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104120" y="3200400"/>
            <a:ext cx="822960" cy="128016"/>
          </a:xfrm>
          <a:prstGeom prst="rect">
            <a:avLst/>
          </a:prstGeom>
          <a:solidFill>
            <a:srgbClr val="B7791F"/>
          </a:solidFill>
          <a:ln w="12700">
            <a:solidFill>
              <a:srgbClr val="F5C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1228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primer–</a:t>
            </a:r>
            <a:r>
              <a:rPr lang="en-US" sz="2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r>
              <a:rPr lang="en-US" sz="2000" b="1" dirty="0">
                <a:solidFill>
                  <a:srgbClr val="2F6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C*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104120" y="3657600"/>
            <a:ext cx="1005840" cy="128016"/>
          </a:xfrm>
          <a:prstGeom prst="rect">
            <a:avLst/>
          </a:prstGeom>
          <a:solidFill>
            <a:srgbClr val="2F6FB0"/>
          </a:solidFill>
          <a:ln w="12700">
            <a:solidFill>
              <a:srgbClr val="8FC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12280" y="3977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primer–</a:t>
            </a:r>
            <a:r>
              <a:rPr lang="en-US" sz="2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ATGC</a:t>
            </a:r>
            <a:r>
              <a:rPr lang="en-US" sz="2000" b="1" dirty="0">
                <a:solidFill>
                  <a:srgbClr val="2F6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C*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104120" y="4114800"/>
            <a:ext cx="1188720" cy="128016"/>
          </a:xfrm>
          <a:prstGeom prst="rect">
            <a:avLst/>
          </a:prstGeom>
          <a:solidFill>
            <a:srgbClr val="2F6FB0"/>
          </a:solidFill>
          <a:ln w="12700">
            <a:solidFill>
              <a:srgbClr val="8FC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812280" y="4434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primer–</a:t>
            </a:r>
            <a:r>
              <a:rPr lang="en-US" sz="2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ATGCC</a:t>
            </a:r>
            <a:r>
              <a:rPr lang="en-US" sz="2000" b="1" dirty="0">
                <a:solidFill>
                  <a:srgbClr val="C23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T*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10104120" y="4572000"/>
            <a:ext cx="1371600" cy="128016"/>
          </a:xfrm>
          <a:prstGeom prst="rect">
            <a:avLst/>
          </a:prstGeom>
          <a:solidFill>
            <a:srgbClr val="C2334D"/>
          </a:solidFill>
          <a:ln w="12700">
            <a:solidFill>
              <a:srgbClr val="F28C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812280" y="498348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= ddNTP, the labeled terminating base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534924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Read: </a:t>
            </a:r>
            <a:r>
              <a:rPr lang="en-US" sz="22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5′-ATGCCT-3′</a:t>
            </a:r>
            <a:endParaRPr lang="en-US" sz="2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of Sanger sequencing (1986)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Radioactive labels replaced with laser-excitable fluorescent dyes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nucleotides could be run in a single lane of a gel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read off with a camera as fluorescing strands passed a fixed point near the end of the gel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lane’s signal converted to sequence computationally — “base calling”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80960" y="1645920"/>
            <a:ext cx="3959352" cy="4389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95528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DYE PER BASE, ONE LANE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377440"/>
            <a:ext cx="594360" cy="5943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04672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2377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ddATP dye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3200400"/>
            <a:ext cx="594360" cy="5943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04672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3200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ddCTP dye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0" y="4023360"/>
            <a:ext cx="594360" cy="594360"/>
          </a:xfrm>
          <a:prstGeom prst="ellipse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04672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4023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ddGTP dye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4846320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04672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823960" y="4846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ddTTP dye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5623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370A, 1987 — the first commercial automated sequencer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Fluorescent slab gel image</a:t>
            </a:r>
            <a:endParaRPr lang="en-US" sz="3000" dirty="0"/>
          </a:p>
        </p:txBody>
      </p:sp>
      <p:pic>
        <p:nvPicPr>
          <p:cNvPr id="8" name="Image 0" descr="Fluorescent slab gel image with four-colour la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217920" cy="4663440"/>
          </a:xfrm>
          <a:prstGeom prst="rect">
            <a:avLst/>
          </a:prstGeom>
        </p:spPr>
      </p:pic>
      <p:pic>
        <p:nvPicPr>
          <p:cNvPr id="9" name="Image 1" descr="Sequencing trace (chromatogram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573973"/>
            <a:ext cx="4142232" cy="1241174"/>
          </a:xfrm>
          <a:prstGeom prst="rect">
            <a:avLst/>
          </a:prstGeom>
        </p:spPr>
      </p:pic>
      <p:pic>
        <p:nvPicPr>
          <p:cNvPr id="10" name="Image 2" descr="Sequencing trace (chromatogram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3149168"/>
            <a:ext cx="4142232" cy="1236320"/>
          </a:xfrm>
          <a:prstGeom prst="rect">
            <a:avLst/>
          </a:prstGeom>
        </p:spPr>
      </p:pic>
      <p:pic>
        <p:nvPicPr>
          <p:cNvPr id="11" name="Image 3" descr="Sequencing trace (chromatogram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4720819"/>
            <a:ext cx="4142232" cy="123855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credits: mun.ca/biology/scarr/How_it_works.htm (gel); NCBI Trace Archive (traces)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curve: the Sanger era</a:t>
            </a:r>
            <a:endParaRPr lang="en-US" sz="3000" dirty="0"/>
          </a:p>
        </p:txBody>
      </p:sp>
      <p:pic>
        <p:nvPicPr>
          <p:cNvPr id="8" name="Image 0" descr="NHGRI cost per human genome, 2001–2021, log scale, with Moore's law 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589520" cy="42530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363358" y="1508760"/>
            <a:ext cx="5774802" cy="4253044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458200" y="1508760"/>
            <a:ext cx="3182112" cy="466344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0" y="1709928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Roughly steady decline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2532888"/>
            <a:ext cx="2724912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capillary era, costs fell at about the pace of Moore’s law.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human genome cost ~$100 million per genome in 2001 (NHGRI estimate).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NHGRI, genome.gov/sequencingcosts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on Sanger gel performance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between loss of signal from diffusion and loss of resolution at high voltage or short gel length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gels/capillaries or lower voltages separate short-to-medium fragments better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longer run times mean more diffusion, which blurs adjacent signals and spreads peaks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80960" y="1645920"/>
            <a:ext cx="3959352" cy="4389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9552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HIGH-QUALITY READ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651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~1,000 bp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3840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limit of electrophoresis — not of the chemistry.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454 sequencing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“next-generation,” massively parallel technique (2005)</a:t>
            </a:r>
            <a:endParaRPr lang="en-US" sz="22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pyrosequencing</a:t>
            </a:r>
            <a:endParaRPr lang="en-US" sz="22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Emulsion PCR prepares DNA on beads</a:t>
            </a:r>
            <a:endParaRPr lang="en-US" sz="22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Beads are loaded into a picotiter plate for sequencing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80960" y="1645920"/>
            <a:ext cx="3959352" cy="19888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909560" y="1810512"/>
            <a:ext cx="350215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823210"/>
            <a:ext cx="350215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 20 launched; Margulies et al., Nature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0" y="3863340"/>
            <a:ext cx="3959352" cy="19888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909560" y="4027932"/>
            <a:ext cx="350215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5040630"/>
            <a:ext cx="350215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Roche discontinued 454 sequencers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Rover</a:t>
            </a:r>
            <a:endParaRPr lang="en-US" sz="3000" dirty="0"/>
          </a:p>
        </p:txBody>
      </p:sp>
      <p:pic>
        <p:nvPicPr>
          <p:cNvPr id="8" name="Image 0" descr="Rover, the giant white balloon from The Priso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858" y="1508760"/>
            <a:ext cx="6359236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Emulsion PCR</a:t>
            </a:r>
            <a:endParaRPr lang="en-US" sz="3000" dirty="0"/>
          </a:p>
        </p:txBody>
      </p:sp>
      <p:pic>
        <p:nvPicPr>
          <p:cNvPr id="8" name="Image 0" descr="Emulsion PCR schematic: one DNA template and bead per dropl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176007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508760"/>
            <a:ext cx="4050792" cy="466344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818120" y="1709928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molecule, one bead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258568"/>
            <a:ext cx="3593592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Oil–water emulsion makes millions of micro-reactors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 one template and one bead per droplet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coats each bead with clonal copies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emulsion; enrich template-carrying beads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credit: users.ugent.be/~avierstr/nextgen/nextgen.html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454 picotiter plate</a:t>
            </a:r>
            <a:endParaRPr lang="en-US" sz="3000" dirty="0"/>
          </a:p>
        </p:txBody>
      </p:sp>
      <p:pic>
        <p:nvPicPr>
          <p:cNvPr id="8" name="Image 0" descr="Picotiter plate wells (44 µm) and bead loading schemat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566719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508760"/>
            <a:ext cx="4050792" cy="14020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818120" y="1673352"/>
            <a:ext cx="3593592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µm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392680"/>
            <a:ext cx="35935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well diameter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89520" y="3139440"/>
            <a:ext cx="4050792" cy="14020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818120" y="3304032"/>
            <a:ext cx="3593592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bead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4023360"/>
            <a:ext cx="35935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well, each carrying one clonal template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589520" y="4770120"/>
            <a:ext cx="4050792" cy="14020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818120" y="4934712"/>
            <a:ext cx="3593592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~400,000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5654040"/>
            <a:ext cx="35935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 parallel (early plates)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credit: mbio.ncsu.edu/MB451/lectureModules/molecularEcology/molecularSurveys/454/454.html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Pyrosequencing</a:t>
            </a:r>
            <a:endParaRPr lang="en-US" sz="3000" dirty="0"/>
          </a:p>
        </p:txBody>
      </p:sp>
      <p:pic>
        <p:nvPicPr>
          <p:cNvPr id="8" name="Image 0" descr="Pyrosequencing enzyme cascade and resulting pyro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74623"/>
            <a:ext cx="6766560" cy="35317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508760"/>
            <a:ext cx="4050792" cy="466344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818120" y="1709928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from each incorporation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258568"/>
            <a:ext cx="3593592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one nucleotide at a time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 releases pyrophosphate (PPi)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Sulfurylase: PPi → ATP; luciferase: ATP → light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Apyrase clears leftovers before the next flow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is proportional to the number of bases added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454 output: the flowgram</a:t>
            </a:r>
            <a:endParaRPr lang="en-US" sz="3000" dirty="0"/>
          </a:p>
        </p:txBody>
      </p:sp>
      <p:pic>
        <p:nvPicPr>
          <p:cNvPr id="8" name="Image 0" descr="Flowgram: signal intensity per nucleotide flow, showing 1-mer to 4-mer homopolym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334" y="1508760"/>
            <a:ext cx="9826283" cy="40233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height counts homopolymer length (1-mer, 2-mer, 3-mer…). Distinguishing 5 from 6 identical bases is where 454 errors come from.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credit: contig.wordpress.com/2010/10/28/newbler-input-i-the-sff-file/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curve: the 454 era</a:t>
            </a:r>
            <a:endParaRPr lang="en-US" sz="3000" dirty="0"/>
          </a:p>
        </p:txBody>
      </p:sp>
      <p:pic>
        <p:nvPicPr>
          <p:cNvPr id="8" name="Image 0" descr="NHGRI cost per human genome, 2001–2021, log scale, with Moore's law 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589520" cy="42530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45678" y="1508760"/>
            <a:ext cx="4692482" cy="4253044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458200" y="1508760"/>
            <a:ext cx="3182112" cy="466344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0" y="1709928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break from Moore’s law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2532888"/>
            <a:ext cx="2724912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parallel sequencing (454 from 2005, then Illumina GA from 2006–07) pulled costs off the Moore’s law line.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NHGRI, genome.gov/sequencingcosts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of apex 454 sequencing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76479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million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4607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per run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2064" y="160020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50664" y="176479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400–700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50664" y="284607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per read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5488" y="160020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4088" y="176479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~1.5%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24088" y="284607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— motif dependent (homopolymers)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95478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411937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thousands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20065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22064" y="395478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50664" y="411937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hours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50664" y="520065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95488" y="395478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324088" y="411937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Gb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324088" y="520065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machine per day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on 454 performance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56616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801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Homopolymers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04288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accurately read homopolymers or nearby sequence; physical limit on reading the full incorporation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356616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26280" y="1801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decay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304288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signal over time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6616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75320" y="1801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Dephasing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304288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Signal-to-noise degrades as extending strands fall out of sync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356616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4087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length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90288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what can be amplified on a bead in emPCR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97680" y="3886200"/>
            <a:ext cx="356616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26280" y="4087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strand only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590288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second-strand or non-contiguous (paired) reads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Sequencing Technologies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0" cy="466344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315200" y="1143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9110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Sequencing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6791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Sequencing Technologies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447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Prepping DNA for Sequencing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2153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Study Design Considerations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983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 for Specific Sequencing Assays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0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Illumina sequencing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5643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strands are amplified in situ on a glass flow cell</a:t>
            </a:r>
            <a:endParaRPr lang="en-US" sz="22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terminators sequence one base at a time</a:t>
            </a:r>
            <a:endParaRPr lang="en-US" sz="22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Solexa Genome Analyzer launched 2006; Illumina acquired Solexa in 2007</a:t>
            </a:r>
            <a:endParaRPr lang="en-US" sz="22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 dominant platform in 2026</a:t>
            </a:r>
          </a:p>
        </p:txBody>
      </p:sp>
      <p:sp>
        <p:nvSpPr>
          <p:cNvPr id="9" name="Shape 7"/>
          <p:cNvSpPr/>
          <p:nvPr/>
        </p:nvSpPr>
        <p:spPr>
          <a:xfrm>
            <a:off x="7863840" y="1645920"/>
            <a:ext cx="3776472" cy="6400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046720" y="1645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generation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747504" y="2304288"/>
            <a:ext cx="914" cy="219456"/>
          </a:xfrm>
          <a:prstGeom prst="line">
            <a:avLst/>
          </a:prstGeom>
          <a:noFill/>
          <a:ln w="25400">
            <a:solidFill>
              <a:srgbClr val="5B657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63840" y="2542032"/>
            <a:ext cx="3776472" cy="6400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046720" y="25420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fluorescent reversible-terminator dNTPs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747504" y="3200400"/>
            <a:ext cx="914" cy="219456"/>
          </a:xfrm>
          <a:prstGeom prst="line">
            <a:avLst/>
          </a:prstGeom>
          <a:noFill/>
          <a:ln w="25400">
            <a:solidFill>
              <a:srgbClr val="5B657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63840" y="3438144"/>
            <a:ext cx="3776472" cy="6400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046720" y="34381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747504" y="4096512"/>
            <a:ext cx="914" cy="219456"/>
          </a:xfrm>
          <a:prstGeom prst="line">
            <a:avLst/>
          </a:prstGeom>
          <a:noFill/>
          <a:ln w="25400">
            <a:solidFill>
              <a:srgbClr val="5B657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63840" y="4334256"/>
            <a:ext cx="3776472" cy="6400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046720" y="433425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Cleave dye + block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747504" y="4992624"/>
            <a:ext cx="914" cy="219456"/>
          </a:xfrm>
          <a:prstGeom prst="line">
            <a:avLst/>
          </a:prstGeom>
          <a:noFill/>
          <a:ln w="25400">
            <a:solidFill>
              <a:srgbClr val="5B657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63840" y="5230368"/>
            <a:ext cx="3776472" cy="6400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046720" y="52303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amplification</a:t>
            </a:r>
            <a:endParaRPr lang="en-US" sz="3000" dirty="0"/>
          </a:p>
        </p:txBody>
      </p:sp>
      <p:pic>
        <p:nvPicPr>
          <p:cNvPr id="8" name="Image 0" descr="Bridge amplification forming clusters on an Illumina flow ce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388" y="1508760"/>
            <a:ext cx="8774176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Reversible terminator sequencing</a:t>
            </a:r>
            <a:endParaRPr lang="en-US" sz="3000" dirty="0"/>
          </a:p>
        </p:txBody>
      </p:sp>
      <p:pic>
        <p:nvPicPr>
          <p:cNvPr id="8" name="Image 0" descr="Reversible terminator chemistry, panel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7150"/>
            <a:ext cx="5440680" cy="2955220"/>
          </a:xfrm>
          <a:prstGeom prst="rect">
            <a:avLst/>
          </a:prstGeom>
        </p:spPr>
      </p:pic>
      <p:pic>
        <p:nvPicPr>
          <p:cNvPr id="9" name="Image 1" descr="Reversible terminator chemistry, panel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295797"/>
            <a:ext cx="5440680" cy="29979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of Illumina sequencing (NovaSeq X 25B, 2026)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76479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~26–35 B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4607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pairs per 25B flow cell; two flow cells per run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22064" y="160020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50664" y="176479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150 bp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50664" y="284607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read length (300 bases per pair)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5488" y="160020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4088" y="176479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Q30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24088" y="284607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error (&lt;1%), some context dependency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95478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411937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~48 hours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20065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2 × 150 run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22064" y="395478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50664" y="411937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~8–10.5 Tb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4550664" y="520065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flow cell; up to ~21 Tb per dual run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95488" y="3954780"/>
            <a:ext cx="3544824" cy="212598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324088" y="4119372"/>
            <a:ext cx="308762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~$200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324088" y="5200650"/>
            <a:ext cx="3087624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30× human genome (Illumina claim)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9">
            <a:extLst>
              <a:ext uri="{FF2B5EF4-FFF2-40B4-BE49-F238E27FC236}">
                <a16:creationId xmlns:a16="http://schemas.microsoft.com/office/drawing/2014/main" id="{6D2A9C6B-BA67-DD35-5F0F-8103E56DA570}"/>
              </a:ext>
            </a:extLst>
          </p:cNvPr>
          <p:cNvSpPr/>
          <p:nvPr/>
        </p:nvSpPr>
        <p:spPr>
          <a:xfrm>
            <a:off x="4312920" y="3888933"/>
            <a:ext cx="356616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on Illumina performance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56616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801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decay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04288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signal over the course of a run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356616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26280" y="1801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Dephasing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304288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Signal-to-noise degrades as extending strands fall out of sync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6616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75320" y="1801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Reagent life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304288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of sequencing reagents over a multi-day run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356616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4087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length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90288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what can be amplified into clusters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087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hopping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498848"/>
            <a:ext cx="3108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Patterned flow cells can swap sample barcodes — use unique dual indexes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curve: the Illumina era</a:t>
            </a:r>
            <a:endParaRPr lang="en-US" sz="3000" dirty="0"/>
          </a:p>
        </p:txBody>
      </p:sp>
      <p:pic>
        <p:nvPicPr>
          <p:cNvPr id="8" name="Image 0" descr="NHGRI cost per human genome, 2001–2021, log scale, with Moore's law 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589520" cy="42530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508760"/>
            <a:ext cx="3182112" cy="466344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686800" y="170992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B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UPDATE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00253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2021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2505456"/>
            <a:ext cx="27249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NovaSeq X (2022): ~$200 genome claimed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Ultima, Complete Genomics: ~$80–100 genome claims (2024–26)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PacBio SPRQ-Nx HiFi: &lt;$300 genome (2026)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claims = reagents only; library prep, labor and compute add more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NHGRI, genome.gov/sequencingcosts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short-read and hybrid platforms (2022–2026)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4068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8013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B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9397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 AVITI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51176"/>
            <a:ext cx="4983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Avidity sequencing: multivalent fluorescent “avidites” bind, then unlabeled nucleotides incorporate. Benchtop, very high base accuracy.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44068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0" y="18013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B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/ Feb 2026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09397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Ultima UG 100 → UG 200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551176"/>
            <a:ext cx="4983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silicon wafer spun under reagents; mostly natural nucleotides. UG 200 Ultra: &gt;60,000 30× genomes per year.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4068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40873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B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37997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MGI / Complete Genomics DNBSEQ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37176"/>
            <a:ext cx="4983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nanoballs from rolling-circle amplification on patterned arrays; low-cost, high-throughput short reads.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3886200"/>
            <a:ext cx="5440680" cy="210312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0" y="40873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B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37997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Roche AXELIOS 1 (SBX)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837176"/>
            <a:ext cx="4983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by expansion: DNA is copied into a ~50× longer “Xpandomer” and read through a nanopore array. Reads up to ~1.5 kb; same-day genomes.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TECHNOLOGIES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Single-molecule (third-generation) sequencing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0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Single-molecule methods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40680" cy="448056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8013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9397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Pacific Biosciences SMRT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688336"/>
            <a:ext cx="498348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Molecule, Real-Time sequencing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Polymerase anchored in a zero-mode waveguide (ZMW)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wells imaged at once, in real time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called from the light flash at incorporation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Instruments: Revio (high-throughput) and Vega (benchtop)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99632" y="1600200"/>
            <a:ext cx="5440680" cy="448056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28232" y="18013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209397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Oxford Nanopore Technologies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2688336"/>
            <a:ext cx="498348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nanopores in a synthetic membrane thread DNA through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sensors read the change in ionic current as groups of bases occupy the pore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USB-sized MinION to 48-flow-cell PromethION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PacBio SMRT</a:t>
            </a:r>
            <a:endParaRPr lang="en-US" sz="3000" dirty="0"/>
          </a:p>
        </p:txBody>
      </p:sp>
      <p:pic>
        <p:nvPicPr>
          <p:cNvPr id="8" name="Image 0" descr="Animation still: polymerase at the bottom of a zero-mode wavegu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23" y="1508760"/>
            <a:ext cx="4642714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0" y="1508760"/>
            <a:ext cx="5971032" cy="329184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897880" y="1709928"/>
            <a:ext cx="5513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one polymerase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2258568"/>
            <a:ext cx="551383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ZMW is a nanoscale well so small only its floor is illuminated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labeled nucleotide flashes as it is held by the polymerase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Kinetics also reveal base modifications such as 5mC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5029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</a:t>
            </a:r>
            <a:r>
              <a:rPr lang="en-US" sz="1400" u="sng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youtube.com/watch?v=WMZmG00uhwU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PacBio HiFi reads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Size-selected libraries, ~15–20 kb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template: the polymerase reads around it many times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consensus (CCS) of the passes gives very accurate long reads (&gt;99.9%, Q30+)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easily and can even distinguish highly similar repeats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223760" y="1645920"/>
            <a:ext cx="4416552" cy="131064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452360" y="1810512"/>
            <a:ext cx="395935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2484120"/>
            <a:ext cx="39593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HiFi reads introduced (Wenger et al.)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0" y="3185160"/>
            <a:ext cx="4416552" cy="131064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52360" y="3349752"/>
            <a:ext cx="395935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2023–24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4023360"/>
            <a:ext cx="39593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Revio (25 M ZMWs) and benchtop Vega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23760" y="4724400"/>
            <a:ext cx="4416552" cy="1310640"/>
          </a:xfrm>
          <a:prstGeom prst="rect">
            <a:avLst/>
          </a:prstGeom>
          <a:solidFill>
            <a:srgbClr val="F3F3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452360" y="4888992"/>
            <a:ext cx="395935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&lt;$300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5562600"/>
            <a:ext cx="39593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HiFi human genome with SPRQ-Nx (2026)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Oxford Nanopore</a:t>
            </a:r>
            <a:endParaRPr lang="en-US" sz="3000" dirty="0"/>
          </a:p>
        </p:txBody>
      </p:sp>
      <p:pic>
        <p:nvPicPr>
          <p:cNvPr id="8" name="Image 0" descr="DNA strand passing through a protein nanopore with its current tr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93" y="1508760"/>
            <a:ext cx="10627965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of Oxford Nanopore — then vs. 2026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9870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slide (~2019)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length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long (100 kb+, &gt;1 Mb)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Unchanged: read length = fragment length; &gt;1 Mb possible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error (10%+), non-random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~99.75% simplex (Q26, R10.4.1 + Dorado v5); duplex &gt;Q30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PromethION runs up to 48 flow cells; high-output flow cells (2026)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time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hours to 3+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flexible; real-time analysis; stops when pores wear out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5mC/6mA and RNA modification calls; direct RNA; peptide-sequencing demo (2026)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single-molecule techniques — revisited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68808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(original)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things stand in 2026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redundancy, so high error unless the molecule is read more than once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Largely solved: HiFi circular consensus; better pores and AI basecallers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is hard to massively parallelize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 ZMWs per Revio cell; 48 flow cells per PromethION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large amounts of DNA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Lower-input protocols exist, but more DNA than short reads still helps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long reads need very high-quality input DNA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true — HMW extraction is often the bottleneck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 and base calling are expensive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compute-heavy (GPUs), but routine and increasingly on-instrument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2606</TotalTime>
  <Words>2242</Words>
  <Application>Microsoft Macintosh PowerPoint</Application>
  <PresentationFormat>Widescreen</PresentationFormat>
  <Paragraphs>391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Sequencing Technology</dc:title>
  <dc:subject>PptxGenJS Presentation</dc:subject>
  <dc:creator>PptxGenJS</dc:creator>
  <cp:lastModifiedBy>Michael San Jose</cp:lastModifiedBy>
  <cp:revision>5</cp:revision>
  <dcterms:created xsi:type="dcterms:W3CDTF">2026-09-28T23:34:41Z</dcterms:created>
  <dcterms:modified xsi:type="dcterms:W3CDTF">2026-09-30T20:18:42Z</dcterms:modified>
</cp:coreProperties>
</file>